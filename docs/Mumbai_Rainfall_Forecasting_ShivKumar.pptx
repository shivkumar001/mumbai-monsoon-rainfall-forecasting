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R²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Ridge</c:v>
                  </c:pt>
                  <c:pt idx="1">
                    <c:v>LightGBM</c:v>
                  </c:pt>
                  <c:pt idx="2">
                    <c:v>XGBoost</c:v>
                  </c:pt>
                  <c:pt idx="3">
                    <c:v>Random Forest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0.781</c:v>
                </c:pt>
                <c:pt idx="1">
                  <c:v>0.444</c:v>
                </c:pt>
                <c:pt idx="2">
                  <c:v>0.433</c:v>
                </c:pt>
                <c:pt idx="3">
                  <c:v>0.431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E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8EC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MAE (mm)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Ridge</c:v>
                  </c:pt>
                  <c:pt idx="1">
                    <c:v>LightGBM</c:v>
                  </c:pt>
                  <c:pt idx="2">
                    <c:v>XGBoost</c:v>
                  </c:pt>
                  <c:pt idx="3">
                    <c:v>Random Forest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205.4</c:v>
                </c:pt>
                <c:pt idx="1">
                  <c:v>338.1</c:v>
                </c:pt>
                <c:pt idx="2">
                  <c:v>340.8</c:v>
                </c:pt>
                <c:pt idx="3">
                  <c:v>340.5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8EC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2A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94760"/>
            <a:ext cx="9144000" cy="1348740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PROJECT REPORT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Mumbai Monsoon
</a:t>
            </a:r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5FC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Rainfall Forecasting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Mumbai's Seasonal Rainfall Total Using a Mid-Season Machine Learning Forecast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Shiv Kumar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121 Years of Rainfall (1901–2021)  |  8 Engineered Features  |  Regression / Forecasting Task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FC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4498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Data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97480" y="3977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FC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97480" y="4498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46320" y="3977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FC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846320" y="4498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Test R²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95160" y="3977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FC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995160" y="4498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4440" y="11155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408176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statement, business value &amp; dataset overview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85623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212140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Leakage-safe feature engineering &amp; EDA key findings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569464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694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5420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28346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regressors, TimeSeriesSplit cross-validation, chronological split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282696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2826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325526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354787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performance, residual diagnostics &amp; SHAP explainability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9592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995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34440" y="39684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4261104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Summary, business recommendations &amp; future work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88289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49640" y="4882896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</a:t>
            </a:r>
            <a:pPr indent="0" marL="0">
              <a:buNone/>
            </a:pPr>
            <a:r>
              <a:rPr lang="en-US" sz="13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331720" cy="3383280"/>
          </a:xfrm>
          <a:prstGeom prst="roundRect">
            <a:avLst>
              <a:gd name="adj" fmla="val 3137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32588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FC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Lag-1 Year Autocorrelation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year's rainfall barely predicts this year's — history alone carries almost no signal.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34290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FC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94.8%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39319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Annual Rainfall Falls in the Jun–Sep Monsoon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63240" y="118872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63240" y="1481328"/>
            <a:ext cx="5577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121 years of Mumbai rainfall records (1901–2021), the year-to-year total swings widely and shows almost no memory from one year to the next — a naive “forecast next year from past years” model has essentially no real skill.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63240" y="242316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Reframing the Problem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63240" y="2715768"/>
            <a:ext cx="5577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rainfall already observed by end of August correlates 0.89 with the season's final total. That's a genuine, learnable, operationally useful signal — the same mid-season update logic water agencies actually use to revise reservoir and supply plans.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063240" y="3657600"/>
            <a:ext cx="5577840" cy="868680"/>
          </a:xfrm>
          <a:prstGeom prst="roundRect">
            <a:avLst>
              <a:gd name="adj" fmla="val 6316"/>
            </a:avLst>
          </a:prstGeom>
          <a:solidFill>
            <a:srgbClr val="F3F6F8"/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3749040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mid-season forecasting model that turns already-observed June–August rainfall into a reliable prediction of the season's final total — enabling proactive reservoir and water-supply planning.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8289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549640" y="4882896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</a:t>
            </a:r>
            <a:pPr indent="0" marL="0">
              <a:buNone/>
            </a:pPr>
            <a:r>
              <a:rPr lang="en-US" sz="13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Data Description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Dataset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813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9536" y="142646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comprehensive EDA — trend, seasonality, autocorrelation &amp; progressive within-season signal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993392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933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9536" y="19385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naive year-over-year forecasting first; document the negative result honestly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05456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5054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" y="245059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leakage-safe features: cumulative Jun–Aug rainfall, historical baselines, trend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0175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59536" y="296265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compare 5 regressors: Linear Regression, Ridge, Random Forest, XGBoost, LightGBM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529584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5295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9536" y="3474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TimeSeriesSplit CV + chronological hold-out (MAE, RMSE, R²)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041648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041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9536" y="398678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SHAP for explainability &amp; translate results into a business-ready category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0" y="11430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663440" y="1481328"/>
            <a:ext cx="4023360" cy="438912"/>
          </a:xfrm>
          <a:prstGeom prst="roundRect">
            <a:avLst>
              <a:gd name="adj" fmla="val 10417"/>
            </a:avLst>
          </a:prstGeom>
          <a:solidFill>
            <a:srgbClr val="F3F6F8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148132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Years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949440" y="1481328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  (1901–2021)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1979676"/>
            <a:ext cx="4023360" cy="438912"/>
          </a:xfrm>
          <a:prstGeom prst="roundRect">
            <a:avLst>
              <a:gd name="adj" fmla="val 10417"/>
            </a:avLst>
          </a:prstGeom>
          <a:solidFill>
            <a:srgbClr val="F3F6F8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197967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949440" y="1979676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2478024"/>
            <a:ext cx="4023360" cy="438912"/>
          </a:xfrm>
          <a:prstGeom prst="roundRect">
            <a:avLst>
              <a:gd name="adj" fmla="val 10417"/>
            </a:avLst>
          </a:prstGeom>
          <a:solidFill>
            <a:srgbClr val="F3F6F8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2478024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949440" y="2478024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annual rainfall (mm) — regression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2976372"/>
            <a:ext cx="4023360" cy="438912"/>
          </a:xfrm>
          <a:prstGeom prst="roundRect">
            <a:avLst>
              <a:gd name="adj" fmla="val 10417"/>
            </a:avLst>
          </a:prstGeom>
          <a:solidFill>
            <a:srgbClr val="F3F6F8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297637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949440" y="297637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0 across all columns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63440" y="3474720"/>
            <a:ext cx="4023360" cy="438912"/>
          </a:xfrm>
          <a:prstGeom prst="roundRect">
            <a:avLst>
              <a:gd name="adj" fmla="val 10417"/>
            </a:avLst>
          </a:prstGeom>
          <a:solidFill>
            <a:srgbClr val="F3F6F8"/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347472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Annual Rainfall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949440" y="347472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2,168 mm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663440" y="3973068"/>
            <a:ext cx="4023360" cy="438912"/>
          </a:xfrm>
          <a:prstGeom prst="roundRect">
            <a:avLst>
              <a:gd name="adj" fmla="val 10417"/>
            </a:avLst>
          </a:prstGeom>
          <a:solidFill>
            <a:srgbClr val="F3F6F8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397306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Monsoon Share (Jun–Sep)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949440" y="3973068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94.8% of annual total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7200" y="488289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549640" y="4882896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</a:t>
            </a:r>
            <a:pPr indent="0" marL="0">
              <a:buNone/>
            </a:pPr>
            <a:r>
              <a:rPr lang="en-US" sz="13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Leakage-Safe Feature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160520" cy="1051560"/>
          </a:xfrm>
          <a:prstGeom prst="roundRect">
            <a:avLst>
              <a:gd name="adj" fmla="val 6087"/>
            </a:avLst>
          </a:prstGeom>
          <a:solidFill>
            <a:srgbClr val="F3F6F8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3990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399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07008" y="1362456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207008" y="1636776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lag_1 and roll_mean_3 built with .shift() applied before .rolling() — verified with an explicit assert cell that no future year leaks into the past.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92040" y="1234440"/>
            <a:ext cx="4160520" cy="1051560"/>
          </a:xfrm>
          <a:prstGeom prst="roundRect">
            <a:avLst>
              <a:gd name="adj" fmla="val 6087"/>
            </a:avLst>
          </a:prstGeom>
          <a:solidFill>
            <a:srgbClr val="F3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5056632" y="13990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056632" y="1399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41848" y="1362456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Monsoon Signal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41848" y="1636776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June, July &amp; Aug rainfall kept as separate features — the observed, already-known signal as of September 1st.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4160520" cy="1051560"/>
          </a:xfrm>
          <a:prstGeom prst="roundRect">
            <a:avLst>
              <a:gd name="adj" fmla="val 6087"/>
            </a:avLst>
          </a:prstGeom>
          <a:solidFill>
            <a:srgbClr val="F3F6F8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" y="25877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07008" y="2551176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Baseline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207008" y="2825496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lta_jja_hist = expanding mean of Jun–Aug totals from years before year t only (never the current or future year).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92040" y="2423160"/>
            <a:ext cx="4160520" cy="1051560"/>
          </a:xfrm>
          <a:prstGeom prst="roundRect">
            <a:avLst>
              <a:gd name="adj" fmla="val 6087"/>
            </a:avLst>
          </a:prstGeom>
          <a:solidFill>
            <a:srgbClr val="F3F6F8"/>
          </a:solidFill>
          <a:ln/>
        </p:spPr>
      </p:sp>
      <p:sp>
        <p:nvSpPr>
          <p:cNvPr id="20" name="Shape 18"/>
          <p:cNvSpPr/>
          <p:nvPr/>
        </p:nvSpPr>
        <p:spPr>
          <a:xfrm>
            <a:off x="5056632" y="25877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5056632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41848" y="2551176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Feature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41848" y="2825496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year_norm captures the +4.8 mm/yr long-term climate drift identified in EDA.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611880"/>
            <a:ext cx="4160520" cy="1051560"/>
          </a:xfrm>
          <a:prstGeom prst="roundRect">
            <a:avLst>
              <a:gd name="adj" fmla="val 6087"/>
            </a:avLst>
          </a:prstGeom>
          <a:solidFill>
            <a:srgbClr val="F3F6F8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" y="37764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" y="3776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07008" y="3739896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 Check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207008" y="4014216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confirms no feature pair exceeds |r| = 0.85 — no redundant sums included alongside components.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92040" y="3611880"/>
            <a:ext cx="4160520" cy="1051560"/>
          </a:xfrm>
          <a:prstGeom prst="roundRect">
            <a:avLst>
              <a:gd name="adj" fmla="val 6087"/>
            </a:avLst>
          </a:prstGeom>
          <a:solidFill>
            <a:srgbClr val="F3F6F8"/>
          </a:solidFill>
          <a:ln/>
        </p:spPr>
      </p:sp>
      <p:sp>
        <p:nvSpPr>
          <p:cNvPr id="30" name="Shape 28"/>
          <p:cNvSpPr/>
          <p:nvPr/>
        </p:nvSpPr>
        <p:spPr>
          <a:xfrm>
            <a:off x="5056632" y="37764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5056632" y="3776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641848" y="3739896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Split + CV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641848" y="4014216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1904–2001 (98 yrs) / Test 2002–2021 (20 yrs), no shuffling; 5-fold TimeSeriesSplit for CV &amp; tuning.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88289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49640" y="4882896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</a:t>
            </a:r>
            <a:pPr indent="0" marL="0">
              <a:buNone/>
            </a:pPr>
            <a:r>
              <a:rPr lang="en-US" sz="13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EDA Key 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Key Findings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43584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C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94.8%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Monsoon Share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(Jun–Sep)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42032" y="1170432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2542032" y="1243584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C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633472" y="162763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Lag-1 Year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Autocorrelation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26864" y="1170432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626864" y="1243584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C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+4.8mm/yr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18304" y="162763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(p&lt;0.001)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711696" y="1170432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711696" y="1243584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C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03136" y="162763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Corr.: Cum. Jun–Aug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Final Total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2258568"/>
            <a:ext cx="3630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Monsoon Dominance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87552" y="2532888"/>
            <a:ext cx="3630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Jun–Sep delivers 94.8% of the annual total every year — non-monsoon months sit near zero in most years.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92040" y="228600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22392" y="2258568"/>
            <a:ext cx="3630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Year-to-Year Memory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22392" y="2532888"/>
            <a:ext cx="3630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Lag-1 autocorrelation is just 0.11 — confirming pure history-based forecasting has almost no real skill here.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474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87552" y="3447288"/>
            <a:ext cx="3630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Rising Baseline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87552" y="3721608"/>
            <a:ext cx="3630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+4.8 mm/year (p&lt;0.001) — the 2010s (2,603mm avg) and 2020s-so-far (3,319mm) sit well above the 120-yr mean.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92040" y="347472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3474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22392" y="3447288"/>
            <a:ext cx="3630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Real, Learnable Signal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22392" y="3721608"/>
            <a:ext cx="3630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the final total climbs from 0.33 (June) to 0.69 (+July) to 0.89 (+August) as the season unfolds.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488289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549640" y="4882896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</a:t>
            </a:r>
            <a:pPr indent="0" marL="0">
              <a:buNone/>
            </a:pPr>
            <a:r>
              <a:rPr lang="en-US" sz="13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Modelling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Modelling Approach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430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Split  →  </a:t>
            </a:r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Training Years (1904–2001) + 20 Test Years (2002–2021)  |  No Shuffling  |  5-Fold TimeSeriesSplit CV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536192" cy="1051560"/>
          </a:xfrm>
          <a:prstGeom prst="roundRect">
            <a:avLst>
              <a:gd name="adj" fmla="val 6957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3055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40487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130552" y="1874520"/>
            <a:ext cx="1536192" cy="105156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2130552" y="213055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130552" y="240487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803904" y="1874520"/>
            <a:ext cx="1536192" cy="1051560"/>
          </a:xfrm>
          <a:prstGeom prst="roundRect">
            <a:avLst>
              <a:gd name="adj" fmla="val 6957"/>
            </a:avLst>
          </a:prstGeom>
          <a:solidFill>
            <a:srgbClr val="3E6B8A"/>
          </a:solidFill>
          <a:ln/>
        </p:spPr>
      </p:sp>
      <p:sp>
        <p:nvSpPr>
          <p:cNvPr id="13" name="Text 11"/>
          <p:cNvSpPr/>
          <p:nvPr/>
        </p:nvSpPr>
        <p:spPr>
          <a:xfrm>
            <a:off x="3803904" y="213055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803904" y="240487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77256" y="1874520"/>
            <a:ext cx="1536192" cy="1051560"/>
          </a:xfrm>
          <a:prstGeom prst="roundRect">
            <a:avLst>
              <a:gd name="adj" fmla="val 6957"/>
            </a:avLst>
          </a:prstGeom>
          <a:solidFill>
            <a:srgbClr val="5A7FA6"/>
          </a:solidFill>
          <a:ln/>
        </p:spPr>
      </p:sp>
      <p:sp>
        <p:nvSpPr>
          <p:cNvPr id="16" name="Text 14"/>
          <p:cNvSpPr/>
          <p:nvPr/>
        </p:nvSpPr>
        <p:spPr>
          <a:xfrm>
            <a:off x="5477256" y="213055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77256" y="240487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150608" y="1874520"/>
            <a:ext cx="1536192" cy="1051560"/>
          </a:xfrm>
          <a:prstGeom prst="roundRect">
            <a:avLst>
              <a:gd name="adj" fmla="val 6957"/>
            </a:avLst>
          </a:prstGeom>
          <a:solidFill>
            <a:srgbClr val="192A51"/>
          </a:solidFill>
          <a:ln/>
        </p:spPr>
      </p:sp>
      <p:sp>
        <p:nvSpPr>
          <p:cNvPr id="19" name="Text 17"/>
          <p:cNvSpPr/>
          <p:nvPr/>
        </p:nvSpPr>
        <p:spPr>
          <a:xfrm>
            <a:off x="7150608" y="213055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150608" y="240487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2999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labels: Linear • Linear (Regularized) • Ensemble • Boosting • Boosting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42900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3F6F8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42900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Tuning: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with 5-fold TimeSeriesSplit CV — Ridge (10 alpha values), Random Forest (36 combos), XGBoost (27 combos), LightGBM (54 combos).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Used:  </a:t>
            </a:r>
            <a:pPr indent="0" marL="0">
              <a:buNone/>
            </a:pPr>
            <a:r>
              <a:rPr lang="en-US" sz="10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 |  RMSE  |  R²  |  Residual Diagnostics  |  Error Analysis by Year  |  SHAP Explainability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88289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549640" y="4882896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</a:t>
            </a:r>
            <a:pPr indent="0" marL="0">
              <a:buNone/>
            </a:pPr>
            <a:r>
              <a:rPr lang="en-US" sz="13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Model Performance 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 Comparison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148840"/>
        </p:xfrm>
        <a:graphic>
          <a:graphicData uri="http://schemas.openxmlformats.org/drawingml/2006/table">
            <a:tbl>
              <a:tblPr/>
              <a:tblGrid>
                <a:gridCol w="3291840"/>
                <a:gridCol w="1645920"/>
                <a:gridCol w="1645920"/>
                <a:gridCol w="1645920"/>
              </a:tblGrid>
              <a:tr h="358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MAE (mm)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RMSE (mm)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(Tuned)  ★ Best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263.6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(Tuned)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338.1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419.7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(Tuned)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340.8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423.9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(Tuned)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340.5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424.6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i="1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Baseline (Cum. + Hist. Remainder)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234.9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296.9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520440"/>
            <a:ext cx="8229600" cy="1051560"/>
          </a:xfrm>
          <a:prstGeom prst="roundRect">
            <a:avLst>
              <a:gd name="adj" fmla="val 5217"/>
            </a:avLst>
          </a:prstGeom>
          <a:solidFill>
            <a:srgbClr val="F3F6F8"/>
          </a:solidFill>
          <a:ln/>
        </p:spPr>
      </p:sp>
      <p:sp>
        <p:nvSpPr>
          <p:cNvPr id="6" name="Text 3"/>
          <p:cNvSpPr/>
          <p:nvPr/>
        </p:nvSpPr>
        <p:spPr>
          <a:xfrm>
            <a:off x="594360" y="3611880"/>
            <a:ext cx="7955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 wins on every metric — not just one — and is the only model to clearly beat the naive baseline (R² 0.781 vs 0.722). A wider hyperparameter grid than a previous project's n_iter=5 search still did not let the tree ensembles catch up: with only 98 training rows and a largely additive relationship, extra tuning budget doesn't change which model family wins.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57200" y="488289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549640" y="4882896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</a:t>
            </a:r>
            <a:pPr indent="0" marL="0">
              <a:buNone/>
            </a:pPr>
            <a:r>
              <a:rPr lang="en-US" sz="13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Visual Performance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Performance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2651760" cy="658368"/>
          </a:xfrm>
          <a:prstGeom prst="roundRect">
            <a:avLst>
              <a:gd name="adj" fmla="val 8333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170432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FC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783080" y="1170432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Test R²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(Ridge)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46120" y="1170432"/>
            <a:ext cx="2651760" cy="658368"/>
          </a:xfrm>
          <a:prstGeom prst="roundRect">
            <a:avLst>
              <a:gd name="adj" fmla="val 8333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3355848" y="1170432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FC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205mm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0" y="1170432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MAE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(Ridge)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035040" y="1170432"/>
            <a:ext cx="2651760" cy="658368"/>
          </a:xfrm>
          <a:prstGeom prst="roundRect">
            <a:avLst>
              <a:gd name="adj" fmla="val 8333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144768" y="1170432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FC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360920" y="1170432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Cum. Jun–Aug Corr.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Final Total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2011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 Comparison — All Models</a:t>
            </a:r>
            <a:endParaRPr lang="en-US" sz="11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57200" y="2286000"/>
          <a:ext cx="393192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4754880" y="2011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MAE Comparison — All Models (lower is better)</a:t>
            </a:r>
            <a:endParaRPr lang="en-US" sz="1100" dirty="0"/>
          </a:p>
        </p:txBody>
      </p:sp>
      <p:graphicFrame>
        <p:nvGraphicFramePr>
          <p:cNvPr id="16" name="Chart 1" descr=""/>
          <p:cNvGraphicFramePr/>
          <p:nvPr/>
        </p:nvGraphicFramePr>
        <p:xfrm>
          <a:off x="4754880" y="2286000"/>
          <a:ext cx="393192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 13"/>
          <p:cNvSpPr/>
          <p:nvPr/>
        </p:nvSpPr>
        <p:spPr>
          <a:xfrm>
            <a:off x="457200" y="488289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8549640" y="4882896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</a:t>
            </a:r>
            <a:pPr indent="0" marL="0">
              <a:buNone/>
            </a:pPr>
            <a:r>
              <a:rPr lang="en-US" sz="13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SHAP Model Explainability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 Model Explainability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(SHapley Additive exPlanations) quantifies how much each feature pushes the rainfall forecast up or down for a given year — and cross-checks the model against the independent EDA findings.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14813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Driving the Forecast (SHAP Ranking)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F3F6F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50976" y="18562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Rainfall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77640" y="1892808"/>
            <a:ext cx="640080" cy="219456"/>
          </a:xfrm>
          <a:prstGeom prst="roundRect">
            <a:avLst>
              <a:gd name="adj" fmla="val 16667"/>
            </a:avLst>
          </a:prstGeom>
          <a:solidFill>
            <a:srgbClr val="C23B3B"/>
          </a:solidFill>
          <a:ln/>
        </p:spPr>
      </p:sp>
      <p:sp>
        <p:nvSpPr>
          <p:cNvPr id="10" name="Text 8"/>
          <p:cNvSpPr/>
          <p:nvPr/>
        </p:nvSpPr>
        <p:spPr>
          <a:xfrm>
            <a:off x="3977640" y="1892808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950976" y="214884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mean |SHAP| impact — more July rain pushes the final-total forecast up directly and strongly.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92040" y="187452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F3F6F8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85816" y="18562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Rainfall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12480" y="1892808"/>
            <a:ext cx="640080" cy="219456"/>
          </a:xfrm>
          <a:prstGeom prst="roundRect">
            <a:avLst>
              <a:gd name="adj" fmla="val 16667"/>
            </a:avLst>
          </a:prstGeom>
          <a:solidFill>
            <a:srgbClr val="C23B3B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892808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385816" y="214884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Second-strongest driver — consistent with August being the wettest month on average (465mm).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F3F6F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017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50976" y="29992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Rainfall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977640" y="3035808"/>
            <a:ext cx="640080" cy="219456"/>
          </a:xfrm>
          <a:prstGeom prst="roundRect">
            <a:avLst>
              <a:gd name="adj" fmla="val 16667"/>
            </a:avLst>
          </a:prstGeom>
          <a:solidFill>
            <a:srgbClr val="C23B3B"/>
          </a:solidFill>
          <a:ln/>
        </p:spPr>
      </p:sp>
      <p:sp>
        <p:nvSpPr>
          <p:cNvPr id="22" name="Text 20"/>
          <p:cNvSpPr/>
          <p:nvPr/>
        </p:nvSpPr>
        <p:spPr>
          <a:xfrm>
            <a:off x="3977640" y="3035808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50976" y="329184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Monsoon onset strength matters, though less than the peak months of July/August.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92040" y="301752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F3F6F8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3017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85816" y="29992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Trend (year_norm)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412480" y="3035808"/>
            <a:ext cx="640080" cy="219456"/>
          </a:xfrm>
          <a:prstGeom prst="roundRect">
            <a:avLst>
              <a:gd name="adj" fmla="val 16667"/>
            </a:avLst>
          </a:prstGeom>
          <a:solidFill>
            <a:srgbClr val="C88A2E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3035808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385816" y="329184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the +4.8mm/yr climate drift — a smaller but consistent positive contribution in recent years.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416052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F3F6F8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160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50976" y="41422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Jun–Aug Avg.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977640" y="4178808"/>
            <a:ext cx="640080" cy="219456"/>
          </a:xfrm>
          <a:prstGeom prst="roundRect">
            <a:avLst>
              <a:gd name="adj" fmla="val 16667"/>
            </a:avLst>
          </a:prstGeom>
          <a:solidFill>
            <a:srgbClr val="5F7285"/>
          </a:solidFill>
          <a:ln/>
        </p:spPr>
      </p:sp>
      <p:sp>
        <p:nvSpPr>
          <p:cNvPr id="34" name="Text 32"/>
          <p:cNvSpPr/>
          <p:nvPr/>
        </p:nvSpPr>
        <p:spPr>
          <a:xfrm>
            <a:off x="3977640" y="4178808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950976" y="443484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 little — consistent with the weak year-to-year autocorrelation found in EDA.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92040" y="416052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F3F6F8"/>
          </a:solidFill>
          <a:ln/>
        </p:spPr>
      </p:sp>
      <p:sp>
        <p:nvSpPr>
          <p:cNvPr id="37" name="Text 35"/>
          <p:cNvSpPr/>
          <p:nvPr/>
        </p:nvSpPr>
        <p:spPr>
          <a:xfrm>
            <a:off x="4892040" y="4160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85816" y="41422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Prior-Year Total (lag_1)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412480" y="4178808"/>
            <a:ext cx="640080" cy="219456"/>
          </a:xfrm>
          <a:prstGeom prst="roundRect">
            <a:avLst>
              <a:gd name="adj" fmla="val 16667"/>
            </a:avLst>
          </a:prstGeom>
          <a:solidFill>
            <a:srgbClr val="5F7285"/>
          </a:solidFill>
          <a:ln/>
        </p:spPr>
      </p:sp>
      <p:sp>
        <p:nvSpPr>
          <p:cNvPr id="40" name="Text 38"/>
          <p:cNvSpPr/>
          <p:nvPr/>
        </p:nvSpPr>
        <p:spPr>
          <a:xfrm>
            <a:off x="8412480" y="4178808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385816" y="443484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contribution of all — confirms last year's total carries almost no predictive weight.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488289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549640" y="4882896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</a:t>
            </a:r>
            <a:pPr indent="0" marL="0">
              <a:buNone/>
            </a:pPr>
            <a:r>
              <a:rPr lang="en-US" sz="13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Summary &amp; Business Recommendations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pure year-over-year rainfall forecasting first and found it essentially unpredictable (lag-1 autocorrelation 0.11) — an honest negative result that shaped the final approach. Reframed as a mid-season nowcast using observed Jun–Aug rainfall, Ridge Regression reached 0.781 test R², beating Random Forest, XGBoost and LightGBM on every metric, with a wider hyperparameter search confirming the gap doesn't close with more tuning. SHAP confirmed July and August rainfall as the dominant, most trustworthy drivers.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3591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23591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697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642616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end-of-August forecasts to inform reservoir release and water-supply planning ahead of the dry season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2735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2735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21868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predictions into Deficient/Normal/Excess categories (IMD-style) — model's misses are adjacent-category only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849624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8496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37947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years tracking well below the historical Jun–Aug pace early for drought-preparedness planning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2697480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2697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2642616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cross-validation given the small sample (116 usable rows) to quantify result stability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3273552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32735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321868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second-stage, early-September model for a shorter-lead-time, higher-accuracy refinement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3849624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8496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37947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ENSO / Indian Ocean Dipole indices — the physical drivers behind monsoon strength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88289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549640" y="4882896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92A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94760"/>
            <a:ext cx="9144000" cy="1348740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34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Shiv Kumar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Monsoon Rainfall Forecasting — ML Regression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FC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4498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Test R²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97480" y="3977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FC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205mm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97480" y="4498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46320" y="3977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FC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0" y="4498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Tested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995160" y="3977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FC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995160" y="4498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2026-08-16T13:13:46Z</dcterms:created>
  <dcterms:modified xsi:type="dcterms:W3CDTF">2026-08-16T13:13:46Z</dcterms:modified>
</cp:coreProperties>
</file>